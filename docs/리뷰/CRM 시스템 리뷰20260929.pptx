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2" r:id="rId4"/>
    <p:sldId id="260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64" autoAdjust="0"/>
    <p:restoredTop sz="92504" autoAdjust="0"/>
  </p:normalViewPr>
  <p:slideViewPr>
    <p:cSldViewPr snapToGrid="0">
      <p:cViewPr varScale="1">
        <p:scale>
          <a:sx n="113" d="100"/>
          <a:sy n="113" d="100"/>
        </p:scale>
        <p:origin x="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6061AD-34ED-B719-F927-529BE42B07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4982BCA-7DCA-3B87-8870-BF4C05CBCF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303568-5167-2B23-D57B-7BC09C613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B37E0-83DC-4C07-9855-190797A11536}" type="datetimeFigureOut">
              <a:rPr lang="ko-KR" altLang="en-US" smtClean="0"/>
              <a:t>2026. 9. 30.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C1191A-0395-110C-5ABF-6AFCA6B01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507F27-2DBC-8EC3-CC45-DCD50BABC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022F6-89BF-40BC-9C50-BEE8B12202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284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6F6532-F8B4-1479-3229-0767581F1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8C1FBC-5C4D-B660-93B9-E0CD73338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C1E44D-22D5-B11A-9641-D894B3480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B37E0-83DC-4C07-9855-190797A11536}" type="datetimeFigureOut">
              <a:rPr lang="ko-KR" altLang="en-US" smtClean="0"/>
              <a:t>2026. 9. 30.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74C064-86DE-1AF2-781C-079E337CC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DAA7C4-A1DF-5991-34BE-4D87BA14D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022F6-89BF-40BC-9C50-BEE8B12202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1542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C3BAB1-D405-E627-3C46-FF5E58C66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56FD44-DCB8-F190-8BBB-CCFE88E3A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8F9BAA-ADDF-80DE-E342-639517DD2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B37E0-83DC-4C07-9855-190797A11536}" type="datetimeFigureOut">
              <a:rPr lang="ko-KR" altLang="en-US" smtClean="0"/>
              <a:t>2026. 9. 30.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F126CA-648F-A6C7-05DD-EE80A128A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37B888-C090-5351-DE41-E1730977B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022F6-89BF-40BC-9C50-BEE8B12202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510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7CC951-046B-8180-2830-0ECD9567C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9AE6FA-CBE0-BF7A-4EB6-41757A6714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E77807-C65A-BABF-D831-F207583956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9510702-3902-C215-902E-7B1BE83CA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B37E0-83DC-4C07-9855-190797A11536}" type="datetimeFigureOut">
              <a:rPr lang="ko-KR" altLang="en-US" smtClean="0"/>
              <a:t>2026. 9. 30.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6D8017-5FB7-4C75-4171-628A03720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73D982-85AB-D365-92F3-28EC0B006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022F6-89BF-40BC-9C50-BEE8B12202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960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92DA38-B1EF-C8F9-E9E8-02F2B921F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414ACF-8A1D-A799-7732-590F05C9B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3C1C70F-0C66-B424-61B9-EF3274D89A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E216435-F2A6-1999-E764-92A728C68E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41B26DB-A3D3-9823-FE49-D22C706575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667A948-4CA6-4741-2258-7B1E31F2E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B37E0-83DC-4C07-9855-190797A11536}" type="datetimeFigureOut">
              <a:rPr lang="ko-KR" altLang="en-US" smtClean="0"/>
              <a:t>2026. 9. 30.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7F72A90-54E2-8857-E975-1C82BD5EA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FCA289-8B20-E6EA-F871-DE865DDB9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022F6-89BF-40BC-9C50-BEE8B12202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0086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91EEC0-FB34-25F8-F735-A28437ADE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D8409DA-F2CF-1038-D889-DF1565A27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B37E0-83DC-4C07-9855-190797A11536}" type="datetimeFigureOut">
              <a:rPr lang="ko-KR" altLang="en-US" smtClean="0"/>
              <a:t>2026. 9. 30.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8730008-FB9D-4D56-D001-D23335944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5BDD363-EEB8-01CA-DD9C-CA22DE0DD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022F6-89BF-40BC-9C50-BEE8B12202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580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5F34321-DA90-5FD1-F04E-84ECCAB4B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B37E0-83DC-4C07-9855-190797A11536}" type="datetimeFigureOut">
              <a:rPr lang="ko-KR" altLang="en-US" smtClean="0"/>
              <a:t>2026. 9. 30.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F7563EC-2ACA-E0DB-5FB0-E2EA0D89F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3ED514-FF10-0468-11D5-118A49BE0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022F6-89BF-40BC-9C50-BEE8B12202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101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C53665-9B5C-1E61-39F4-F05F4E4EA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A5BC11-3B2E-DB5E-83E3-9B639321A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4D03B34-44C8-D7AB-8490-DECE264655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A5E931B-C496-9DC6-3213-D0B7BEB78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B37E0-83DC-4C07-9855-190797A11536}" type="datetimeFigureOut">
              <a:rPr lang="ko-KR" altLang="en-US" smtClean="0"/>
              <a:t>2026. 9. 30.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79E1B93-D057-C4B9-D995-6F78B6E6B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FC4D54-1279-6E12-298C-050EEE2B1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022F6-89BF-40BC-9C50-BEE8B12202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9313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B6EB69-74A1-7DE0-1FA2-FA703A18F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41B3006-EB94-680A-C38C-D086ECD07C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4B51BC0-3706-69D6-C720-D5E84408A9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DA8662-FBBA-26D1-6508-78D70923E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B37E0-83DC-4C07-9855-190797A11536}" type="datetimeFigureOut">
              <a:rPr lang="ko-KR" altLang="en-US" smtClean="0"/>
              <a:t>2026. 9. 30.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2E4E66-5D92-CAB9-64F8-9CA2A1C8F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514C22-0045-7E31-2C52-30FD9B4B4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022F6-89BF-40BC-9C50-BEE8B12202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572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6130F1-4C48-6479-76C5-3816C972F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F585999-237C-DC31-15E5-F7787CA5F5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1FD498-61F8-5E20-A6B0-ECD87FA0A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B37E0-83DC-4C07-9855-190797A11536}" type="datetimeFigureOut">
              <a:rPr lang="ko-KR" altLang="en-US" smtClean="0"/>
              <a:t>2026. 9. 30.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D2B963-1943-16DF-12CA-86C895A6E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B78050-D47F-A056-A1B6-383153BB7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022F6-89BF-40BC-9C50-BEE8B12202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997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6C3BEC-1424-BA38-58B0-142DD2D638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B476C2-0758-EBE4-042B-8068867B46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6FDC2F-611F-CDA2-48C3-F1EA8B475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B37E0-83DC-4C07-9855-190797A11536}" type="datetimeFigureOut">
              <a:rPr lang="ko-KR" altLang="en-US" smtClean="0"/>
              <a:t>2026. 9. 30.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6DBFDD-9858-963B-A783-8EE11634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B6B6D9-D7CF-B92F-C4EA-DC8E30F6C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022F6-89BF-40BC-9C50-BEE8B12202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9465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D3A7CD5-72E7-A6F7-4AAF-D4B29B2FE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C8666B-CB4E-1A5A-DA3E-92F0DD5D0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32FD33-401E-CB2A-AE0B-27F1DB8EC4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FB37E0-83DC-4C07-9855-190797A11536}" type="datetimeFigureOut">
              <a:rPr lang="ko-KR" altLang="en-US" smtClean="0"/>
              <a:t>2026. 9. 30.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F9E77C-ACC1-6287-FE1B-5C39D89636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C79AB0-DECC-216C-04E7-B9CA9571C4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0022F6-89BF-40BC-9C50-BEE8B12202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3095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FDBD5B-2257-FB87-8A24-7E79EA711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7" y="229659"/>
            <a:ext cx="10515600" cy="478663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로그인 후 새로 배정된 업무 팝업 오류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4C82AB-BBAF-3620-78E7-05BB76FB3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760" y="708322"/>
            <a:ext cx="10515600" cy="478663"/>
          </a:xfrm>
        </p:spPr>
        <p:txBody>
          <a:bodyPr>
            <a:norm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기 처리된 업무가 새로 배정된 업무라고 뜸</a:t>
            </a:r>
            <a:r>
              <a:rPr lang="en-US" altLang="ko-KR" sz="1200" dirty="0">
                <a:solidFill>
                  <a:srgbClr val="FF0000"/>
                </a:solidFill>
              </a:rPr>
              <a:t>.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E19F769-A48D-318F-A420-1B18BDC00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608" y="1988580"/>
            <a:ext cx="8558784" cy="450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924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FBA8C8-7C8D-8A26-5601-8CAB0A004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022" y="286103"/>
            <a:ext cx="10515600" cy="478663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영업</a:t>
            </a:r>
            <a:r>
              <a:rPr lang="en-US" altLang="ko-KR" sz="2000" dirty="0"/>
              <a:t>&gt;&gt;</a:t>
            </a:r>
            <a:r>
              <a:rPr lang="ko-KR" altLang="en-US" sz="2000" dirty="0"/>
              <a:t>견적관리</a:t>
            </a:r>
            <a:r>
              <a:rPr lang="en-US" altLang="ko-KR" sz="2000" dirty="0"/>
              <a:t>&gt;&gt;</a:t>
            </a:r>
            <a:r>
              <a:rPr lang="ko-KR" altLang="en-US" sz="2000" dirty="0"/>
              <a:t>견적작성 메뉴 수정사항</a:t>
            </a:r>
            <a:r>
              <a:rPr lang="en-US" altLang="ko-KR" sz="2000" dirty="0"/>
              <a:t>(1)</a:t>
            </a:r>
            <a:r>
              <a:rPr lang="ko-KR" altLang="en-US" sz="2000" dirty="0"/>
              <a:t>  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A51A6DCF-C4C3-0948-2D96-924BF471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4560" y="815171"/>
            <a:ext cx="10515600" cy="478663"/>
          </a:xfrm>
        </p:spPr>
        <p:txBody>
          <a:bodyPr/>
          <a:lstStyle/>
          <a:p>
            <a:r>
              <a:rPr lang="ko-KR" altLang="en-US" sz="1200" dirty="0">
                <a:solidFill>
                  <a:srgbClr val="FF0000"/>
                </a:solidFill>
              </a:rPr>
              <a:t>수신기관 입력 시 기관 찾아주는 기능 구현 안됨 </a:t>
            </a:r>
          </a:p>
          <a:p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E681D1C-E5FD-FDC5-A674-BF8254D6B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301565"/>
            <a:ext cx="9131808" cy="3928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486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90C20-E207-F788-ADD5-A7860E760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366ECB-C5F5-A04F-077A-F09D5229C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8663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영업</a:t>
            </a:r>
            <a:r>
              <a:rPr lang="en-US" altLang="ko-KR" sz="2000" dirty="0"/>
              <a:t>&gt;&gt;</a:t>
            </a:r>
            <a:r>
              <a:rPr lang="ko-KR" altLang="en-US" sz="2000" dirty="0"/>
              <a:t>견적관리</a:t>
            </a:r>
            <a:r>
              <a:rPr lang="en-US" altLang="ko-KR" sz="2000" dirty="0"/>
              <a:t>&gt;&gt;</a:t>
            </a:r>
            <a:r>
              <a:rPr lang="ko-KR" altLang="en-US" sz="2000" dirty="0"/>
              <a:t>견적작성 메뉴 수정사항</a:t>
            </a:r>
            <a:r>
              <a:rPr lang="en-US" altLang="ko-KR" sz="2000" dirty="0"/>
              <a:t>(2)</a:t>
            </a:r>
            <a:r>
              <a:rPr lang="ko-KR" altLang="en-US" sz="2000" dirty="0"/>
              <a:t> 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B9B0F89-FF35-1499-47F1-0670012E9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985" y="1005746"/>
            <a:ext cx="10515600" cy="478663"/>
          </a:xfrm>
        </p:spPr>
        <p:txBody>
          <a:bodyPr>
            <a:norm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사업명이 없는 경우 신규 사업 추가를 할 수 있게 할 것</a:t>
            </a:r>
            <a:r>
              <a:rPr lang="en-US" altLang="ko-KR" sz="1200" dirty="0">
                <a:solidFill>
                  <a:srgbClr val="FF0000"/>
                </a:solidFill>
              </a:rPr>
              <a:t>.</a:t>
            </a:r>
            <a:br>
              <a:rPr lang="en-US" altLang="ko-KR" sz="1200" dirty="0">
                <a:solidFill>
                  <a:srgbClr val="FF0000"/>
                </a:solidFill>
              </a:rPr>
            </a:br>
            <a:r>
              <a:rPr lang="ko-KR" altLang="en-US" sz="1200" dirty="0">
                <a:solidFill>
                  <a:srgbClr val="FF0000"/>
                </a:solidFill>
              </a:rPr>
              <a:t>아이 프레임으로 사업을 추가하고 입력했던 위치로 다시 돌아올 수 있게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5ACF965-570B-DA34-64DF-B75A6E2288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500" t="43940" r="69400" b="6697"/>
          <a:stretch>
            <a:fillRect/>
          </a:stretch>
        </p:blipFill>
        <p:spPr>
          <a:xfrm>
            <a:off x="2200779" y="2235458"/>
            <a:ext cx="7790441" cy="447743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AD6E493-E504-3A5C-F207-A70142E68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243" y="2121850"/>
            <a:ext cx="9551773" cy="1921012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47C93426-D58D-496A-E1B4-E3B3E3115AA9}"/>
              </a:ext>
            </a:extLst>
          </p:cNvPr>
          <p:cNvSpPr/>
          <p:nvPr/>
        </p:nvSpPr>
        <p:spPr>
          <a:xfrm>
            <a:off x="1458097" y="3225114"/>
            <a:ext cx="9106930" cy="5189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7084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A28A9-A2AC-DC92-F7AD-634CABA28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67F0CD-FFFE-71C8-CF7F-4FF8D788E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8663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영업</a:t>
            </a:r>
            <a:r>
              <a:rPr lang="en-US" altLang="ko-KR" sz="2000" dirty="0"/>
              <a:t>&gt;&gt;</a:t>
            </a:r>
            <a:r>
              <a:rPr lang="ko-KR" altLang="en-US" sz="2000" dirty="0"/>
              <a:t>견적관리</a:t>
            </a:r>
            <a:r>
              <a:rPr lang="en-US" altLang="ko-KR" sz="2000" dirty="0"/>
              <a:t>&gt;&gt;</a:t>
            </a:r>
            <a:r>
              <a:rPr lang="ko-KR" altLang="en-US" sz="2000" dirty="0"/>
              <a:t>견적서 수정사항</a:t>
            </a:r>
            <a:r>
              <a:rPr lang="en-US" altLang="ko-KR" sz="2000" dirty="0"/>
              <a:t>(2)</a:t>
            </a:r>
            <a:r>
              <a:rPr lang="ko-KR" altLang="en-US" sz="2000" dirty="0"/>
              <a:t> 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16E57004-A6F6-11E7-2FAB-0F4B41D9C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272" y="1092861"/>
            <a:ext cx="10515600" cy="478663"/>
          </a:xfrm>
        </p:spPr>
        <p:txBody>
          <a:bodyPr>
            <a:norm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견적서 엑셀파일명 생성규칙을 </a:t>
            </a:r>
            <a:r>
              <a:rPr lang="en-US" altLang="ko-KR" sz="1200" dirty="0">
                <a:solidFill>
                  <a:srgbClr val="FF0000"/>
                </a:solidFill>
              </a:rPr>
              <a:t>“</a:t>
            </a:r>
            <a:r>
              <a:rPr lang="ko-KR" altLang="en-US" sz="1200" dirty="0">
                <a:solidFill>
                  <a:srgbClr val="FF0000"/>
                </a:solidFill>
              </a:rPr>
              <a:t>견적번호</a:t>
            </a:r>
            <a:r>
              <a:rPr lang="en-US" altLang="ko-KR" sz="1200" dirty="0">
                <a:solidFill>
                  <a:srgbClr val="FF0000"/>
                </a:solidFill>
              </a:rPr>
              <a:t>_</a:t>
            </a:r>
            <a:r>
              <a:rPr lang="ko-KR" altLang="en-US" sz="1200" dirty="0">
                <a:solidFill>
                  <a:srgbClr val="FF0000"/>
                </a:solidFill>
              </a:rPr>
              <a:t>수신기관</a:t>
            </a:r>
            <a:r>
              <a:rPr lang="en-US" altLang="ko-KR" sz="1200" dirty="0">
                <a:solidFill>
                  <a:srgbClr val="FF0000"/>
                </a:solidFill>
              </a:rPr>
              <a:t>_</a:t>
            </a:r>
            <a:r>
              <a:rPr lang="ko-KR" altLang="en-US" sz="1200" dirty="0">
                <a:solidFill>
                  <a:srgbClr val="FF0000"/>
                </a:solidFill>
              </a:rPr>
              <a:t>사업명</a:t>
            </a:r>
            <a:r>
              <a:rPr lang="en-US" altLang="ko-KR" sz="1200" dirty="0">
                <a:solidFill>
                  <a:srgbClr val="FF0000"/>
                </a:solidFill>
              </a:rPr>
              <a:t>”</a:t>
            </a:r>
            <a:r>
              <a:rPr lang="ko-KR" altLang="en-US" sz="1200" dirty="0">
                <a:solidFill>
                  <a:srgbClr val="FF0000"/>
                </a:solidFill>
              </a:rPr>
              <a:t>형태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4898DAA-B334-EE3B-07E4-311FC9963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503" y="2752227"/>
            <a:ext cx="9488224" cy="3429479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7067F801-EAB2-A66F-6411-1BBF339932B8}"/>
              </a:ext>
            </a:extLst>
          </p:cNvPr>
          <p:cNvSpPr/>
          <p:nvPr/>
        </p:nvSpPr>
        <p:spPr>
          <a:xfrm>
            <a:off x="2774288" y="2752227"/>
            <a:ext cx="1481623" cy="3409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831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E34AA-23F4-FD22-A270-A7CDEB1FA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E76F4B-3FD3-817F-3315-EF55FD67E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78664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영업</a:t>
            </a:r>
            <a:r>
              <a:rPr lang="en-US" altLang="ko-KR" sz="2000" dirty="0"/>
              <a:t>&gt;&gt;</a:t>
            </a:r>
            <a:r>
              <a:rPr lang="ko-KR" altLang="en-US" sz="2000" dirty="0"/>
              <a:t>영업사업 삭제 버튼 추가 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D419A473-C4DF-7FEC-9E76-8AB71564E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7076" y="1000440"/>
            <a:ext cx="10515600" cy="478663"/>
          </a:xfrm>
        </p:spPr>
        <p:txBody>
          <a:bodyPr>
            <a:no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Drop </a:t>
            </a:r>
            <a:r>
              <a:rPr lang="ko-KR" altLang="en-US" sz="1200" dirty="0">
                <a:solidFill>
                  <a:srgbClr val="FF0000"/>
                </a:solidFill>
              </a:rPr>
              <a:t> 기능</a:t>
            </a:r>
            <a:r>
              <a:rPr lang="en-US" altLang="ko-KR" sz="1200" dirty="0">
                <a:solidFill>
                  <a:srgbClr val="FF0000"/>
                </a:solidFill>
              </a:rPr>
              <a:t>,</a:t>
            </a:r>
            <a:r>
              <a:rPr lang="ko-KR" altLang="en-US" sz="1200" dirty="0">
                <a:solidFill>
                  <a:srgbClr val="FF0000"/>
                </a:solidFill>
              </a:rPr>
              <a:t> 사업 삭제 버튼 추가 요청</a:t>
            </a:r>
            <a:r>
              <a:rPr lang="en-US" altLang="ko-KR" sz="1200" dirty="0">
                <a:solidFill>
                  <a:srgbClr val="FF0000"/>
                </a:solidFill>
              </a:rPr>
              <a:t>.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en-US" altLang="ko-KR" sz="1200" dirty="0">
                <a:solidFill>
                  <a:srgbClr val="FF0000"/>
                </a:solidFill>
              </a:rPr>
              <a:t>Drop</a:t>
            </a:r>
            <a:r>
              <a:rPr lang="ko-KR" altLang="en-US" sz="1200" dirty="0">
                <a:solidFill>
                  <a:srgbClr val="FF0000"/>
                </a:solidFill>
              </a:rPr>
              <a:t> 및 사업 </a:t>
            </a:r>
            <a:r>
              <a:rPr lang="ko-KR" altLang="en-US" sz="1200" dirty="0" err="1">
                <a:solidFill>
                  <a:srgbClr val="FF0000"/>
                </a:solidFill>
              </a:rPr>
              <a:t>사제시</a:t>
            </a:r>
            <a:r>
              <a:rPr lang="ko-KR" altLang="en-US" sz="1200" dirty="0">
                <a:solidFill>
                  <a:srgbClr val="FF0000"/>
                </a:solidFill>
              </a:rPr>
              <a:t> 로그에 남기고 </a:t>
            </a:r>
            <a:r>
              <a:rPr lang="ko-KR" altLang="en-US" sz="1200" dirty="0" err="1">
                <a:solidFill>
                  <a:srgbClr val="FF0000"/>
                </a:solidFill>
              </a:rPr>
              <a:t>사유을</a:t>
            </a:r>
            <a:r>
              <a:rPr lang="ko-KR" altLang="en-US" sz="1200" dirty="0">
                <a:solidFill>
                  <a:srgbClr val="FF0000"/>
                </a:solidFill>
              </a:rPr>
              <a:t> 적을 수 있게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3180687-5A5A-D591-A3A9-B849B34D4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027" y="2301564"/>
            <a:ext cx="9687698" cy="4085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687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B4D5ED0-5A30-DBC0-1542-3AB70835E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419" y="1690688"/>
            <a:ext cx="7772400" cy="4299108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49261C12-3766-152A-DF4C-219E0943D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89631"/>
          </a:xfrm>
        </p:spPr>
        <p:txBody>
          <a:bodyPr anchor="b">
            <a:noAutofit/>
          </a:bodyPr>
          <a:lstStyle/>
          <a:p>
            <a:br>
              <a:rPr lang="en-US" altLang="ko-KR" sz="2000" dirty="0"/>
            </a:br>
            <a:r>
              <a:rPr lang="ko-KR" altLang="en-US" sz="2000" dirty="0"/>
              <a:t>영업</a:t>
            </a:r>
            <a:r>
              <a:rPr lang="en-US" altLang="ko-KR" sz="2000" dirty="0"/>
              <a:t>&gt;&gt;</a:t>
            </a:r>
            <a:r>
              <a:rPr lang="ko-KR" altLang="en-US" sz="2000" dirty="0"/>
              <a:t>계약 관리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671278-9079-59A1-1131-D7F851254FC6}"/>
              </a:ext>
            </a:extLst>
          </p:cNvPr>
          <p:cNvSpPr txBox="1"/>
          <p:nvPr/>
        </p:nvSpPr>
        <p:spPr>
          <a:xfrm>
            <a:off x="1006508" y="655622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 </a:t>
            </a:r>
            <a:r>
              <a:rPr lang="en-US" altLang="ko-KR" sz="1200" dirty="0"/>
              <a:t>-</a:t>
            </a:r>
            <a:r>
              <a:rPr lang="ko-KR" altLang="en-US" sz="1200" dirty="0"/>
              <a:t> 계약이 안된 건들도 계약 리스트에 나옴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5534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690DD78-7DD6-991E-D741-206FD129A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822" y="1048309"/>
            <a:ext cx="7772400" cy="43765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E39217C2-A5F9-FC55-C832-3B4865E5816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289631"/>
          </a:xfrm>
          <a:prstGeom prst="rect">
            <a:avLst/>
          </a:prstGeom>
        </p:spPr>
        <p:txBody>
          <a:bodyPr anchor="b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altLang="ko-KR" sz="2000" dirty="0"/>
            </a:br>
            <a:r>
              <a:rPr lang="ko-KR" altLang="en-US" sz="2000" dirty="0"/>
              <a:t>영업</a:t>
            </a:r>
            <a:r>
              <a:rPr lang="en-US" altLang="ko-KR" sz="2000" dirty="0"/>
              <a:t>&gt;&gt;</a:t>
            </a:r>
            <a:r>
              <a:rPr lang="ko-KR" altLang="en-US" sz="2000" dirty="0"/>
              <a:t>영업 파이프라인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913617-AD98-5045-3A4A-D663A6B6898B}"/>
              </a:ext>
            </a:extLst>
          </p:cNvPr>
          <p:cNvSpPr txBox="1"/>
          <p:nvPr/>
        </p:nvSpPr>
        <p:spPr>
          <a:xfrm>
            <a:off x="1006508" y="655622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 </a:t>
            </a:r>
            <a:r>
              <a:rPr lang="en-US" altLang="ko-KR" sz="1200" dirty="0"/>
              <a:t>-</a:t>
            </a:r>
            <a:r>
              <a:rPr lang="ko-KR" altLang="en-US" sz="1200" dirty="0"/>
              <a:t> 리스트가 안 나옴</a:t>
            </a:r>
            <a:r>
              <a:rPr lang="en-US" altLang="ko-KR" sz="1200" dirty="0"/>
              <a:t>.</a:t>
            </a:r>
            <a:r>
              <a:rPr lang="ko-KR" altLang="en-US" sz="1200" dirty="0"/>
              <a:t> 에러 발생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26897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D2227CA-F720-25D5-E63F-B04EB4F19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934" y="1530546"/>
            <a:ext cx="7772400" cy="431619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3E744D28-5855-69CC-761E-E2B92A766BD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289631"/>
          </a:xfrm>
          <a:prstGeom prst="rect">
            <a:avLst/>
          </a:prstGeom>
        </p:spPr>
        <p:txBody>
          <a:bodyPr anchor="b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altLang="ko-KR" sz="2000" dirty="0"/>
            </a:br>
            <a:r>
              <a:rPr lang="ko-KR" altLang="en-US" sz="2000" dirty="0"/>
              <a:t>영업</a:t>
            </a:r>
            <a:r>
              <a:rPr lang="en-US" altLang="ko-KR" sz="2000" dirty="0"/>
              <a:t>&gt;&gt;</a:t>
            </a:r>
            <a:r>
              <a:rPr lang="ko-KR" altLang="en-US" sz="2000" dirty="0"/>
              <a:t>영업 사업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B68C13-C174-83C2-EF9C-5DD6B4C18B30}"/>
              </a:ext>
            </a:extLst>
          </p:cNvPr>
          <p:cNvSpPr txBox="1"/>
          <p:nvPr/>
        </p:nvSpPr>
        <p:spPr>
          <a:xfrm>
            <a:off x="1006508" y="655622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 </a:t>
            </a:r>
            <a:r>
              <a:rPr lang="en-US" altLang="ko-KR" sz="1200" dirty="0"/>
              <a:t>-</a:t>
            </a:r>
            <a:r>
              <a:rPr lang="ko-KR" altLang="en-US" sz="1200" dirty="0"/>
              <a:t> 바로 수주 버튼 눌러 나온 화면에서</a:t>
            </a:r>
            <a:r>
              <a:rPr lang="en-US" altLang="ko-KR" sz="1200" dirty="0"/>
              <a:t> </a:t>
            </a:r>
            <a:r>
              <a:rPr lang="ko-KR" altLang="en-US" sz="1200" dirty="0"/>
              <a:t>금액을 작성할 때 </a:t>
            </a:r>
            <a:r>
              <a:rPr lang="en-US" altLang="ko-KR" sz="1200" dirty="0"/>
              <a:t>1,000</a:t>
            </a:r>
            <a:r>
              <a:rPr lang="ko-KR" altLang="en-US" sz="1200" dirty="0"/>
              <a:t>원 단위당 </a:t>
            </a:r>
            <a:r>
              <a:rPr lang="en-US" altLang="ko-KR" sz="1200" dirty="0"/>
              <a:t>,</a:t>
            </a:r>
            <a:r>
              <a:rPr lang="ko-KR" altLang="en-US" sz="1200" dirty="0"/>
              <a:t> 표시 나오게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1A10E6-0500-A11F-290D-494C811E55C3}"/>
              </a:ext>
            </a:extLst>
          </p:cNvPr>
          <p:cNvSpPr txBox="1"/>
          <p:nvPr/>
        </p:nvSpPr>
        <p:spPr>
          <a:xfrm>
            <a:off x="1048842" y="93262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 시스템 내에서 모든 숫자는 </a:t>
            </a:r>
            <a:r>
              <a:rPr lang="en-US" altLang="ko-KR" sz="1200" dirty="0"/>
              <a:t>1,000</a:t>
            </a:r>
            <a:r>
              <a:rPr lang="ko-KR" altLang="en-US" sz="1200" dirty="0"/>
              <a:t>원 단위 </a:t>
            </a:r>
            <a:r>
              <a:rPr lang="en-US" altLang="ko-KR" sz="1200" dirty="0"/>
              <a:t>,</a:t>
            </a:r>
            <a:r>
              <a:rPr lang="ko-KR" altLang="en-US" sz="1200" dirty="0"/>
              <a:t> 표시 나오게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2196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A329880-ACB2-34D0-5755-E62ED4559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508" y="1479781"/>
            <a:ext cx="7772400" cy="431619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733EDFAA-12CE-B789-417C-C2F51E6D6EF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289631"/>
          </a:xfrm>
          <a:prstGeom prst="rect">
            <a:avLst/>
          </a:prstGeom>
        </p:spPr>
        <p:txBody>
          <a:bodyPr anchor="b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altLang="ko-KR" sz="2000" dirty="0"/>
            </a:br>
            <a:r>
              <a:rPr lang="ko-KR" altLang="en-US" sz="2000" dirty="0"/>
              <a:t>영업</a:t>
            </a:r>
            <a:r>
              <a:rPr lang="en-US" altLang="ko-KR" sz="2000" dirty="0"/>
              <a:t>&gt;&gt;</a:t>
            </a:r>
            <a:r>
              <a:rPr lang="ko-KR" altLang="en-US" sz="2000" dirty="0"/>
              <a:t>수주관리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9D0365-B28B-7ED9-1BDD-0CC8AA0DA12A}"/>
              </a:ext>
            </a:extLst>
          </p:cNvPr>
          <p:cNvSpPr txBox="1"/>
          <p:nvPr/>
        </p:nvSpPr>
        <p:spPr>
          <a:xfrm>
            <a:off x="1006508" y="655622"/>
            <a:ext cx="94582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 </a:t>
            </a:r>
            <a:r>
              <a:rPr lang="en-US" altLang="ko-KR" sz="1200" dirty="0"/>
              <a:t>-</a:t>
            </a:r>
            <a:r>
              <a:rPr lang="ko-KR" altLang="en-US" sz="1200" dirty="0"/>
              <a:t> 계약 관리에 나온 모든 사업들은 수주관리에서도 보여야 함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 </a:t>
            </a:r>
            <a:r>
              <a:rPr lang="en-US" altLang="ko-KR" sz="1200" dirty="0"/>
              <a:t>-</a:t>
            </a:r>
            <a:r>
              <a:rPr lang="ko-KR" altLang="en-US" sz="1200" dirty="0"/>
              <a:t> 수주한 후 계약이 안 이루어 </a:t>
            </a:r>
            <a:r>
              <a:rPr lang="ko-KR" altLang="en-US" sz="1200" dirty="0" err="1"/>
              <a:t>질수</a:t>
            </a:r>
            <a:r>
              <a:rPr lang="ko-KR" altLang="en-US" sz="1200" dirty="0"/>
              <a:t> 있고</a:t>
            </a:r>
            <a:r>
              <a:rPr lang="en-US" altLang="ko-KR" sz="1200" dirty="0"/>
              <a:t>,</a:t>
            </a:r>
            <a:r>
              <a:rPr lang="ko-KR" altLang="en-US" sz="1200" dirty="0"/>
              <a:t> 또한</a:t>
            </a:r>
            <a:r>
              <a:rPr lang="en-US" altLang="ko-KR" sz="1200" dirty="0"/>
              <a:t>,</a:t>
            </a:r>
            <a:r>
              <a:rPr lang="ko-KR" altLang="en-US" sz="1200" dirty="0"/>
              <a:t> 계약 금액이 변할 수 있음</a:t>
            </a:r>
            <a:endParaRPr lang="en-US" altLang="ko-KR" sz="1200" dirty="0"/>
          </a:p>
          <a:p>
            <a:r>
              <a:rPr lang="ko-KR" altLang="en-US" sz="1200" dirty="0"/>
              <a:t> </a:t>
            </a:r>
            <a:r>
              <a:rPr lang="en-US" altLang="ko-KR" sz="1200" dirty="0"/>
              <a:t>-</a:t>
            </a:r>
            <a:r>
              <a:rPr lang="ko-KR" altLang="en-US" sz="1200" dirty="0"/>
              <a:t> 계약 관리에서 금액 수정하게 되면 수주 관리에서 금액은 변하면 안됨</a:t>
            </a:r>
            <a:r>
              <a:rPr lang="en-US" altLang="ko-KR" sz="1200" dirty="0"/>
              <a:t>.</a:t>
            </a:r>
            <a:r>
              <a:rPr lang="ko-KR" altLang="en-US" sz="1200" dirty="0"/>
              <a:t> 수주금액과 계약금액은 달라질 수 있음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23748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00560C-D21F-13D4-4D6A-AF3B6983195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289631"/>
          </a:xfrm>
          <a:prstGeom prst="rect">
            <a:avLst/>
          </a:prstGeom>
        </p:spPr>
        <p:txBody>
          <a:bodyPr anchor="b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altLang="ko-KR" sz="2000" dirty="0"/>
            </a:br>
            <a:r>
              <a:rPr lang="ko-KR" altLang="en-US" sz="2000" dirty="0"/>
              <a:t>영업</a:t>
            </a:r>
            <a:r>
              <a:rPr lang="en-US" altLang="ko-KR" sz="2000" dirty="0"/>
              <a:t>&gt;&gt;</a:t>
            </a:r>
            <a:r>
              <a:rPr lang="ko-KR" altLang="en-US" sz="2000" dirty="0"/>
              <a:t>사용자</a:t>
            </a:r>
            <a:r>
              <a:rPr lang="en-US" altLang="ko-KR" sz="2000" dirty="0"/>
              <a:t>/</a:t>
            </a:r>
            <a:r>
              <a:rPr lang="ko-KR" altLang="en-US" sz="2000" dirty="0"/>
              <a:t>권한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7525DD-B736-087F-12FC-0AD326C471ED}"/>
              </a:ext>
            </a:extLst>
          </p:cNvPr>
          <p:cNvSpPr txBox="1"/>
          <p:nvPr/>
        </p:nvSpPr>
        <p:spPr>
          <a:xfrm>
            <a:off x="1006508" y="655622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 </a:t>
            </a:r>
            <a:r>
              <a:rPr lang="en-US" altLang="ko-KR" sz="1200" dirty="0"/>
              <a:t>-</a:t>
            </a:r>
            <a:r>
              <a:rPr lang="ko-KR" altLang="en-US" sz="1200" dirty="0"/>
              <a:t> </a:t>
            </a:r>
            <a:r>
              <a:rPr lang="en-US" altLang="ko-KR" sz="1200" dirty="0"/>
              <a:t>obj</a:t>
            </a:r>
            <a:r>
              <a:rPr lang="ko-KR" altLang="en-US" sz="1200" dirty="0"/>
              <a:t> 권한을 가진 </a:t>
            </a:r>
            <a:r>
              <a:rPr lang="en-US" altLang="ko-KR" sz="1200" dirty="0"/>
              <a:t>ID</a:t>
            </a:r>
            <a:r>
              <a:rPr lang="ko-KR" altLang="en-US" sz="1200" dirty="0"/>
              <a:t>로 접근하면 이 화면만 보임</a:t>
            </a:r>
            <a:r>
              <a:rPr lang="en-US" altLang="ko-KR" sz="1200" dirty="0"/>
              <a:t>.</a:t>
            </a:r>
            <a:r>
              <a:rPr lang="ko-KR" altLang="en-US" sz="1200" dirty="0"/>
              <a:t> 계획</a:t>
            </a:r>
            <a:r>
              <a:rPr lang="en-US" altLang="ko-KR" sz="1200" dirty="0"/>
              <a:t>, </a:t>
            </a:r>
            <a:r>
              <a:rPr lang="ko-KR" altLang="en-US" sz="1200" dirty="0"/>
              <a:t>실행 모든 항목들 보여줘</a:t>
            </a:r>
            <a:r>
              <a:rPr lang="en-US" altLang="ko-KR" sz="1200" dirty="0"/>
              <a:t>.</a:t>
            </a:r>
            <a:r>
              <a:rPr lang="ko-KR" altLang="en-US" sz="1200" dirty="0"/>
              <a:t> 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671DE1C-7EBB-4F13-98D8-BCABF3CB2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382" y="1263253"/>
            <a:ext cx="7772400" cy="433149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18886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1FEF079-DF39-554A-7DDA-CB067716B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418" y="1150079"/>
            <a:ext cx="7772400" cy="436387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31F30261-1095-72F1-D532-00CA86CECDC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289631"/>
          </a:xfrm>
          <a:prstGeom prst="rect">
            <a:avLst/>
          </a:prstGeom>
        </p:spPr>
        <p:txBody>
          <a:bodyPr anchor="b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altLang="ko-KR" sz="2000" dirty="0"/>
            </a:br>
            <a:r>
              <a:rPr lang="ko-KR" altLang="en-US" sz="2000" dirty="0"/>
              <a:t>영업</a:t>
            </a:r>
            <a:r>
              <a:rPr lang="en-US" altLang="ko-KR" sz="2000" dirty="0"/>
              <a:t>&gt;&gt;</a:t>
            </a:r>
            <a:r>
              <a:rPr lang="ko-KR" altLang="en-US" sz="2000" dirty="0"/>
              <a:t>사용자</a:t>
            </a:r>
            <a:r>
              <a:rPr lang="en-US" altLang="ko-KR" sz="2000" dirty="0"/>
              <a:t>/</a:t>
            </a:r>
            <a:r>
              <a:rPr lang="ko-KR" altLang="en-US" sz="2000" dirty="0"/>
              <a:t>권한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CF8BD7-D977-82DF-30CD-DADB4CC87091}"/>
              </a:ext>
            </a:extLst>
          </p:cNvPr>
          <p:cNvSpPr txBox="1"/>
          <p:nvPr/>
        </p:nvSpPr>
        <p:spPr>
          <a:xfrm>
            <a:off x="1006508" y="655622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 </a:t>
            </a:r>
            <a:r>
              <a:rPr lang="en-US" altLang="ko-KR" sz="1200" dirty="0"/>
              <a:t>-</a:t>
            </a:r>
            <a:r>
              <a:rPr lang="ko-KR" altLang="en-US" sz="1200" dirty="0"/>
              <a:t> </a:t>
            </a:r>
            <a:r>
              <a:rPr lang="en-US" altLang="ko-KR" sz="1200" dirty="0" err="1"/>
              <a:t>hjlee</a:t>
            </a:r>
            <a:r>
              <a:rPr lang="ko-KR" altLang="en-US" sz="1200" dirty="0"/>
              <a:t> </a:t>
            </a:r>
            <a:r>
              <a:rPr lang="en-US" altLang="ko-KR" sz="1200" dirty="0"/>
              <a:t>ID</a:t>
            </a:r>
            <a:r>
              <a:rPr lang="ko-KR" altLang="en-US" sz="1200" dirty="0"/>
              <a:t>로 접근하면 이 화면만 보임</a:t>
            </a:r>
            <a:r>
              <a:rPr lang="en-US" altLang="ko-KR" sz="1200" dirty="0"/>
              <a:t>. </a:t>
            </a:r>
            <a:r>
              <a:rPr lang="ko-KR" altLang="en-US" sz="1200" dirty="0"/>
              <a:t>모든 항목 보이게 해 줘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3071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C1ABC2-927A-C4C1-4404-83A9E966094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289631"/>
          </a:xfrm>
          <a:prstGeom prst="rect">
            <a:avLst/>
          </a:prstGeom>
        </p:spPr>
        <p:txBody>
          <a:bodyPr anchor="b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altLang="ko-KR" sz="2000" dirty="0"/>
            </a:br>
            <a:r>
              <a:rPr lang="ko-KR" altLang="en-US" sz="2000" dirty="0"/>
              <a:t>영업</a:t>
            </a:r>
            <a:r>
              <a:rPr lang="en-US" altLang="ko-KR" sz="2000" dirty="0"/>
              <a:t>&gt;&gt;</a:t>
            </a:r>
            <a:r>
              <a:rPr lang="ko-KR" altLang="en-US" sz="2000" dirty="0"/>
              <a:t>사용자</a:t>
            </a:r>
            <a:r>
              <a:rPr lang="en-US" altLang="ko-KR" sz="2000" dirty="0"/>
              <a:t>/</a:t>
            </a:r>
            <a:r>
              <a:rPr lang="ko-KR" altLang="en-US" sz="2000" dirty="0"/>
              <a:t>권한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9F756D-6553-FA57-BBB4-C749136AA7BD}"/>
              </a:ext>
            </a:extLst>
          </p:cNvPr>
          <p:cNvSpPr txBox="1"/>
          <p:nvPr/>
        </p:nvSpPr>
        <p:spPr>
          <a:xfrm>
            <a:off x="1006507" y="655622"/>
            <a:ext cx="101356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 </a:t>
            </a:r>
            <a:r>
              <a:rPr lang="en-US" altLang="ko-KR" sz="1200" dirty="0"/>
              <a:t>- </a:t>
            </a:r>
            <a:r>
              <a:rPr lang="ko-KR" altLang="en-US" sz="1200" dirty="0" err="1"/>
              <a:t>옵저버</a:t>
            </a:r>
            <a:r>
              <a:rPr lang="ko-KR" altLang="en-US" sz="1200" dirty="0"/>
              <a:t> 권한을 가진 사용자들 중 각 담당자별 시뮬레이션 할 수 있게 하는 기능을 넣어줘</a:t>
            </a:r>
            <a:endParaRPr lang="en-US" altLang="ko-KR" sz="1200" dirty="0"/>
          </a:p>
          <a:p>
            <a:r>
              <a:rPr lang="ko-KR" altLang="en-US" sz="1200" dirty="0"/>
              <a:t>   * </a:t>
            </a:r>
            <a:r>
              <a:rPr lang="ko-KR" altLang="en-US" sz="1200" dirty="0" err="1"/>
              <a:t>옵저버</a:t>
            </a:r>
            <a:r>
              <a:rPr lang="en-US" altLang="ko-KR" sz="1200" dirty="0"/>
              <a:t>_</a:t>
            </a:r>
            <a:r>
              <a:rPr lang="ko-KR" altLang="en-US" sz="1200" dirty="0"/>
              <a:t>이해진</a:t>
            </a:r>
            <a:r>
              <a:rPr lang="en-US" altLang="ko-KR" sz="1200" dirty="0"/>
              <a:t>,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옵저버</a:t>
            </a:r>
            <a:r>
              <a:rPr lang="en-US" altLang="ko-KR" sz="1200" dirty="0"/>
              <a:t>_</a:t>
            </a:r>
            <a:r>
              <a:rPr lang="ko-KR" altLang="en-US" sz="1200" dirty="0"/>
              <a:t>관리자</a:t>
            </a:r>
            <a:r>
              <a:rPr lang="en-US" altLang="ko-KR" sz="1200" dirty="0"/>
              <a:t>,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옵저버</a:t>
            </a:r>
            <a:r>
              <a:rPr lang="en-US" altLang="ko-KR" sz="1200" dirty="0"/>
              <a:t>_</a:t>
            </a:r>
            <a:r>
              <a:rPr lang="ko-KR" altLang="en-US" sz="1200" dirty="0" err="1"/>
              <a:t>양기헌</a:t>
            </a:r>
            <a:r>
              <a:rPr lang="en-US" altLang="ko-KR" sz="1200" dirty="0"/>
              <a:t>,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옵저버</a:t>
            </a:r>
            <a:r>
              <a:rPr lang="en-US" altLang="ko-KR" sz="1200" dirty="0"/>
              <a:t>_</a:t>
            </a:r>
            <a:r>
              <a:rPr lang="ko-KR" altLang="en-US" sz="1200" dirty="0"/>
              <a:t>최혜영</a:t>
            </a:r>
            <a:r>
              <a:rPr lang="en-US" altLang="ko-KR" sz="1200" dirty="0"/>
              <a:t>,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옵저너</a:t>
            </a:r>
            <a:r>
              <a:rPr lang="en-US" altLang="ko-KR" sz="1200" dirty="0"/>
              <a:t>_</a:t>
            </a:r>
            <a:r>
              <a:rPr lang="ko-KR" altLang="en-US" sz="1200" dirty="0" err="1"/>
              <a:t>태자운</a:t>
            </a:r>
            <a:r>
              <a:rPr lang="ko-KR" altLang="en-US" sz="1200" dirty="0"/>
              <a:t> 은 동일한 이름의 사람이 들어 </a:t>
            </a:r>
            <a:r>
              <a:rPr lang="ko-KR" altLang="en-US" sz="1200" dirty="0" err="1"/>
              <a:t>갔을때</a:t>
            </a:r>
            <a:r>
              <a:rPr lang="ko-KR" altLang="en-US" sz="1200" dirty="0"/>
              <a:t> 동일하게 볼 수 있는 것을 시뮬레이션 </a:t>
            </a:r>
            <a:r>
              <a:rPr lang="ko-KR" altLang="en-US" sz="1200"/>
              <a:t>하는 기능을 추가해줘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3211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324</Words>
  <Application>Microsoft Macintosh PowerPoint</Application>
  <PresentationFormat>와이드스크린</PresentationFormat>
  <Paragraphs>29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로그인 후 새로 배정된 업무 팝업 오류</vt:lpstr>
      <vt:lpstr>영업&gt;&gt;견적관리&gt;&gt;견적작성 메뉴 수정사항(1)  </vt:lpstr>
      <vt:lpstr>영업&gt;&gt;견적관리&gt;&gt;견적작성 메뉴 수정사항(2) </vt:lpstr>
      <vt:lpstr>영업&gt;&gt;견적관리&gt;&gt;견적서 수정사항(2) </vt:lpstr>
      <vt:lpstr>영업&gt;&gt;영업사업 삭제 버튼 추가 </vt:lpstr>
      <vt:lpstr> 영업&gt;&gt;계약 관리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해진 이</cp:lastModifiedBy>
  <cp:revision>5</cp:revision>
  <dcterms:created xsi:type="dcterms:W3CDTF">2026-09-29T01:32:32Z</dcterms:created>
  <dcterms:modified xsi:type="dcterms:W3CDTF">2026-09-30T03:19:43Z</dcterms:modified>
</cp:coreProperties>
</file>